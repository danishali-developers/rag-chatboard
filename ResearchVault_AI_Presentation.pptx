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ResearchVault AI</a:t>
            </a:r>
          </a:p>
          <a:p>
            <a:pPr algn="ctr">
              <a:defRPr sz="2200"/>
            </a:pPr>
            <a:r>
              <a:t>Multi-Format RAG Document Research Assistant</a:t>
            </a:r>
          </a:p>
          <a:p>
            <a:pPr algn="ctr">
              <a:defRPr sz="1600"/>
            </a:pPr>
            <a:r>
              <a:t>Streamlit • OpenAI • LangChain • FAISS • OCR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ResearchVault AI is a Streamlit-based document question-answering application.</a:t>
            </a:r>
          </a:p>
          <a:p>
            <a:pPr>
              <a:spcAft>
                <a:spcPts val="1000"/>
              </a:spcAft>
              <a:defRPr sz="1900"/>
            </a:pPr>
            <a:r>
              <a:t>Users can upload PDF, DOCX, Excel, PNG, JPG and JPEG files.</a:t>
            </a:r>
          </a:p>
          <a:p>
            <a:pPr>
              <a:spcAft>
                <a:spcPts val="1000"/>
              </a:spcAft>
              <a:defRPr sz="1900"/>
            </a:pPr>
            <a:r>
              <a:t>Uploaded content is extracted, split into chunks and indexed in a FAISS vector store.</a:t>
            </a:r>
          </a:p>
          <a:p>
            <a:pPr>
              <a:spcAft>
                <a:spcPts val="1000"/>
              </a:spcAft>
              <a:defRPr sz="1900"/>
            </a:pPr>
            <a:r>
              <a:t>OpenAI embeddings are used for semantic retrieval and ChatOpenAI generates answers.</a:t>
            </a:r>
          </a:p>
          <a:p>
            <a:pPr>
              <a:spcAft>
                <a:spcPts val="1000"/>
              </a:spcAft>
              <a:defRPr sz="1900"/>
            </a:pPr>
            <a:r>
              <a:t>The application displays retrieved chunks for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Python — core application language</a:t>
            </a:r>
          </a:p>
          <a:p>
            <a:pPr>
              <a:spcAft>
                <a:spcPts val="1000"/>
              </a:spcAft>
              <a:defRPr sz="1900"/>
            </a:pPr>
            <a:r>
              <a:t>Streamlit — interactive web UI</a:t>
            </a:r>
          </a:p>
          <a:p>
            <a:pPr>
              <a:spcAft>
                <a:spcPts val="1000"/>
              </a:spcAft>
              <a:defRPr sz="1900"/>
            </a:pPr>
            <a:r>
              <a:t>OpenAI — embeddings and LLM responses</a:t>
            </a:r>
          </a:p>
          <a:p>
            <a:pPr>
              <a:spcAft>
                <a:spcPts val="1000"/>
              </a:spcAft>
              <a:defRPr sz="1900"/>
            </a:pPr>
            <a:r>
              <a:t>LangChain — RAG chain, loaders, prompts and retrieval</a:t>
            </a:r>
          </a:p>
          <a:p>
            <a:pPr>
              <a:spcAft>
                <a:spcPts val="1000"/>
              </a:spcAft>
              <a:defRPr sz="1900"/>
            </a:pPr>
            <a:r>
              <a:t>FAISS — local vector similarity search</a:t>
            </a:r>
          </a:p>
          <a:p>
            <a:pPr>
              <a:spcAft>
                <a:spcPts val="1000"/>
              </a:spcAft>
              <a:defRPr sz="1900"/>
            </a:pPr>
            <a:r>
              <a:t>PyPDF — PDF extraction</a:t>
            </a:r>
          </a:p>
          <a:p>
            <a:pPr>
              <a:spcAft>
                <a:spcPts val="1000"/>
              </a:spcAft>
              <a:defRPr sz="1900"/>
            </a:pPr>
            <a:r>
              <a:t>python-docx — DOCX extraction</a:t>
            </a:r>
          </a:p>
          <a:p>
            <a:pPr>
              <a:spcAft>
                <a:spcPts val="1000"/>
              </a:spcAft>
              <a:defRPr sz="1900"/>
            </a:pPr>
            <a:r>
              <a:t>Pandas + OpenPyXL — Excel processing</a:t>
            </a:r>
          </a:p>
          <a:p>
            <a:pPr>
              <a:spcAft>
                <a:spcPts val="1000"/>
              </a:spcAft>
              <a:defRPr sz="1900"/>
            </a:pPr>
            <a:r>
              <a:t>Pillow + Tesseract OCR — image text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Application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1) Enter OpenAI API key → live embedding request validates the key.</a:t>
            </a:r>
          </a:p>
          <a:p>
            <a:pPr>
              <a:spcAft>
                <a:spcPts val="1000"/>
              </a:spcAft>
              <a:defRPr sz="1900"/>
            </a:pPr>
            <a:r>
              <a:t>2) Upload a supported document.</a:t>
            </a:r>
          </a:p>
          <a:p>
            <a:pPr>
              <a:spcAft>
                <a:spcPts val="1000"/>
              </a:spcAft>
              <a:defRPr sz="1900"/>
            </a:pPr>
            <a:r>
              <a:t>3) Extract text according to file type.</a:t>
            </a:r>
          </a:p>
          <a:p>
            <a:pPr>
              <a:spcAft>
                <a:spcPts val="1000"/>
              </a:spcAft>
              <a:defRPr sz="1900"/>
            </a:pPr>
            <a:r>
              <a:t>4) Split extracted content using configurable chunk size and overlap.</a:t>
            </a:r>
          </a:p>
          <a:p>
            <a:pPr>
              <a:spcAft>
                <a:spcPts val="1000"/>
              </a:spcAft>
              <a:defRPr sz="1900"/>
            </a:pPr>
            <a:r>
              <a:t>5) Create OpenAI embeddings and build FAISS vector index.</a:t>
            </a:r>
          </a:p>
          <a:p>
            <a:pPr>
              <a:spcAft>
                <a:spcPts val="1000"/>
              </a:spcAft>
              <a:defRPr sz="1900"/>
            </a:pPr>
            <a:r>
              <a:t>6) Ask a question → retrieve top-k relevant chunks.</a:t>
            </a:r>
          </a:p>
          <a:p>
            <a:pPr>
              <a:spcAft>
                <a:spcPts val="1000"/>
              </a:spcAft>
              <a:defRPr sz="1900"/>
            </a:pPr>
            <a:r>
              <a:t>7) Send context + question to ChatOpenAI through the RAG chain.</a:t>
            </a:r>
          </a:p>
          <a:p>
            <a:pPr>
              <a:spcAft>
                <a:spcPts val="1000"/>
              </a:spcAft>
              <a:defRPr sz="1900"/>
            </a:pPr>
            <a:r>
              <a:t>8) Show answer and the retrieved chunks used for transparency.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Multi-Format Document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PDF → PyPDFLoader extracts pages.</a:t>
            </a:r>
          </a:p>
          <a:p>
            <a:pPr>
              <a:spcAft>
                <a:spcPts val="1000"/>
              </a:spcAft>
              <a:defRPr sz="1900"/>
            </a:pPr>
            <a:r>
              <a:t>DOCX → python-docx extracts paragraph text.</a:t>
            </a:r>
          </a:p>
          <a:p>
            <a:pPr>
              <a:spcAft>
                <a:spcPts val="1000"/>
              </a:spcAft>
              <a:defRPr sz="1900"/>
            </a:pPr>
            <a:r>
              <a:t>Excel → pandas reads all sheets and converts sheet data to searchable text.</a:t>
            </a:r>
          </a:p>
          <a:p>
            <a:pPr>
              <a:spcAft>
                <a:spcPts val="1000"/>
              </a:spcAft>
              <a:defRPr sz="1900"/>
            </a:pPr>
            <a:r>
              <a:t>PNG/JPG/JPEG → Pillow opens the image and pytesseract performs OCR.</a:t>
            </a:r>
          </a:p>
          <a:p>
            <a:pPr>
              <a:spcAft>
                <a:spcPts val="1000"/>
              </a:spcAft>
              <a:defRPr sz="1900"/>
            </a:pPr>
            <a:r>
              <a:t>Each extracted document keeps source/location metadata for retrieval transparency.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RAG &amp; Retrieval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Chunk Size: 200–2000 characters; default 1000.</a:t>
            </a:r>
          </a:p>
          <a:p>
            <a:pPr>
              <a:spcAft>
                <a:spcPts val="1000"/>
              </a:spcAft>
              <a:defRPr sz="1900"/>
            </a:pPr>
            <a:r>
              <a:t>Chunk Overlap: 0–400 characters; default 200.</a:t>
            </a:r>
          </a:p>
          <a:p>
            <a:pPr>
              <a:spcAft>
                <a:spcPts val="1000"/>
              </a:spcAft>
              <a:defRPr sz="1900"/>
            </a:pPr>
            <a:r>
              <a:t>Retrieved chunks (top-k): 1–10; default 4.</a:t>
            </a:r>
          </a:p>
          <a:p>
            <a:pPr>
              <a:spcAft>
                <a:spcPts val="1000"/>
              </a:spcAft>
              <a:defRPr sz="1900"/>
            </a:pPr>
            <a:r>
              <a:t>LLM choices in the app: gpt-4o-mini and gpt-4o.</a:t>
            </a:r>
          </a:p>
          <a:p>
            <a:pPr>
              <a:spcAft>
                <a:spcPts val="1000"/>
              </a:spcAft>
              <a:defRPr sz="1900"/>
            </a:pPr>
            <a:r>
              <a:t>RAG temperature is set to 0.1.</a:t>
            </a:r>
          </a:p>
          <a:p>
            <a:pPr>
              <a:spcAft>
                <a:spcPts val="1000"/>
              </a:spcAft>
              <a:defRPr sz="1900"/>
            </a:pPr>
            <a:r>
              <a:t>The system prompt instructs the model to answer strictly from uploaded context and state when information is not 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Streamlit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Secure access screen with password-style API key input.</a:t>
            </a:r>
          </a:p>
          <a:p>
            <a:pPr>
              <a:spcAft>
                <a:spcPts val="1000"/>
              </a:spcAft>
              <a:defRPr sz="1900"/>
            </a:pPr>
            <a:r>
              <a:t>RAG Control Panel in the sidebar.</a:t>
            </a:r>
          </a:p>
          <a:p>
            <a:pPr>
              <a:spcAft>
                <a:spcPts val="1000"/>
              </a:spcAft>
              <a:defRPr sz="1900"/>
            </a:pPr>
            <a:r>
              <a:t>Document uploader in the main dashboard.</a:t>
            </a:r>
          </a:p>
          <a:p>
            <a:pPr>
              <a:spcAft>
                <a:spcPts val="1000"/>
              </a:spcAft>
              <a:defRPr sz="1900"/>
            </a:pPr>
            <a:r>
              <a:t>Chat interface for questions about the uploaded document.</a:t>
            </a:r>
          </a:p>
          <a:p>
            <a:pPr>
              <a:spcAft>
                <a:spcPts val="1000"/>
              </a:spcAft>
              <a:defRPr sz="1900"/>
            </a:pPr>
            <a:r>
              <a:t>Retrieved Chunks Transparency expander.</a:t>
            </a:r>
          </a:p>
          <a:p>
            <a:pPr>
              <a:spcAft>
                <a:spcPts val="1000"/>
              </a:spcAft>
              <a:defRPr sz="1900"/>
            </a:pPr>
            <a:r>
              <a:t>Lock / Clear Session button.</a:t>
            </a:r>
          </a:p>
          <a:p>
            <a:pPr>
              <a:spcAft>
                <a:spcPts val="1000"/>
              </a:spcAft>
              <a:defRPr sz="1900"/>
            </a:pPr>
            <a:r>
              <a:t>Live metrics: chunk size, overlap, total chunks and top-k.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API Key &amp; Session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app does not hard-code an OpenAI key in the source.</a:t>
            </a:r>
          </a:p>
          <a:p>
            <a:pPr>
              <a:spcAft>
                <a:spcPts val="1000"/>
              </a:spcAft>
              <a:defRPr sz="1900"/>
            </a:pPr>
            <a:r>
              <a:t>The user enters the key through Streamlit's password input.</a:t>
            </a:r>
          </a:p>
          <a:p>
            <a:pPr>
              <a:spcAft>
                <a:spcPts val="1000"/>
              </a:spcAft>
              <a:defRPr sz="1900"/>
            </a:pPr>
            <a:r>
              <a:t>The key is validated with an OpenAI embeddings request before unlocking the dashboard.</a:t>
            </a:r>
          </a:p>
          <a:p>
            <a:pPr>
              <a:spcAft>
                <a:spcPts val="1000"/>
              </a:spcAft>
              <a:defRPr sz="1900"/>
            </a:pPr>
            <a:r>
              <a:t>The key is stored in Streamlit session state for the active session.</a:t>
            </a:r>
          </a:p>
          <a:p>
            <a:pPr>
              <a:spcAft>
                <a:spcPts val="1000"/>
              </a:spcAft>
              <a:defRPr sz="1900"/>
            </a:pPr>
            <a:r>
              <a:t>The Lock / Clear Session action clears authentication, vector store, messages and chunk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Required Python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streamlit&gt;=1.30.0</a:t>
            </a:r>
          </a:p>
          <a:p>
            <a:pPr>
              <a:spcAft>
                <a:spcPts val="1000"/>
              </a:spcAft>
              <a:defRPr sz="1600"/>
            </a:pPr>
            <a:r>
              <a:t>langchain&gt;=0.2.0</a:t>
            </a:r>
          </a:p>
          <a:p>
            <a:pPr>
              <a:spcAft>
                <a:spcPts val="1000"/>
              </a:spcAft>
              <a:defRPr sz="1600"/>
            </a:pPr>
            <a:r>
              <a:t>langchain-openai&gt;=0.1.0</a:t>
            </a:r>
          </a:p>
          <a:p>
            <a:pPr>
              <a:spcAft>
                <a:spcPts val="1000"/>
              </a:spcAft>
              <a:defRPr sz="1600"/>
            </a:pPr>
            <a:r>
              <a:t>langchain-community&gt;=0.2.0</a:t>
            </a:r>
          </a:p>
          <a:p>
            <a:pPr>
              <a:spcAft>
                <a:spcPts val="1000"/>
              </a:spcAft>
              <a:defRPr sz="1600"/>
            </a:pPr>
            <a:r>
              <a:t>langchain-core&gt;=0.2.0</a:t>
            </a:r>
          </a:p>
          <a:p>
            <a:pPr>
              <a:spcAft>
                <a:spcPts val="1000"/>
              </a:spcAft>
              <a:defRPr sz="1600"/>
            </a:pPr>
            <a:r>
              <a:t>langchain-text-splitters&gt;=0.2.0</a:t>
            </a:r>
          </a:p>
          <a:p>
            <a:pPr>
              <a:spcAft>
                <a:spcPts val="1000"/>
              </a:spcAft>
              <a:defRPr sz="1600"/>
            </a:pPr>
            <a:r>
              <a:t>faiss-cpu&gt;=1.7.4</a:t>
            </a:r>
          </a:p>
          <a:p>
            <a:pPr>
              <a:spcAft>
                <a:spcPts val="1000"/>
              </a:spcAft>
              <a:defRPr sz="1600"/>
            </a:pPr>
            <a:r>
              <a:t>pypdf&gt;=4.0.0</a:t>
            </a:r>
          </a:p>
          <a:p>
            <a:pPr>
              <a:spcAft>
                <a:spcPts val="1000"/>
              </a:spcAft>
              <a:defRPr sz="1600"/>
            </a:pPr>
            <a:r>
              <a:t>python-docx&gt;=1.1.0</a:t>
            </a:r>
          </a:p>
          <a:p>
            <a:pPr>
              <a:spcAft>
                <a:spcPts val="1000"/>
              </a:spcAft>
              <a:defRPr sz="1600"/>
            </a:pPr>
            <a:r>
              <a:t>pandas&gt;=2.0.0</a:t>
            </a:r>
          </a:p>
          <a:p>
            <a:pPr>
              <a:spcAft>
                <a:spcPts val="1000"/>
              </a:spcAft>
              <a:defRPr sz="1600"/>
            </a:pPr>
            <a:r>
              <a:t>openpyxl&gt;=3.1.0</a:t>
            </a:r>
          </a:p>
          <a:p>
            <a:pPr>
              <a:spcAft>
                <a:spcPts val="1000"/>
              </a:spcAft>
              <a:defRPr sz="1600"/>
            </a:pPr>
            <a:r>
              <a:t>pillow&gt;=10.0.0</a:t>
            </a:r>
          </a:p>
          <a:p>
            <a:pPr>
              <a:spcAft>
                <a:spcPts val="1000"/>
              </a:spcAft>
              <a:defRPr sz="1600"/>
            </a:pPr>
            <a:r>
              <a:t>pytesseract&gt;=0.3.10</a:t>
            </a:r>
          </a:p>
          <a:p>
            <a:pPr>
              <a:spcAft>
                <a:spcPts val="1000"/>
              </a:spcAft>
              <a:defRPr sz="1600"/>
            </a:pPr>
            <a:r>
              <a:t>python-dotenv&gt;=1.0.0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How to Run the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4480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latin typeface="Consolas"/>
              </a:defRPr>
            </a:pPr>
            <a:r>
              <a:t># Open the project folder in VS Code</a:t>
            </a:r>
            <a:br/>
            <a:br/>
            <a:r>
              <a:t># Install dependencies</a:t>
            </a:r>
            <a:br/>
            <a:r>
              <a:t>python -m pip install -r requirements.txt</a:t>
            </a:r>
            <a:br/>
            <a:br/>
            <a:r>
              <a:t># Start Streamlit</a:t>
            </a:r>
            <a:br/>
            <a:r>
              <a:t>python -m streamlit run app.py</a:t>
            </a:r>
            <a:br/>
            <a:br/>
            <a:r>
              <a:t># Or</a:t>
            </a:r>
            <a:br/>
            <a:r>
              <a:t>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Image OCR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application uses pytesseract for image OCR.</a:t>
            </a:r>
          </a:p>
          <a:p>
            <a:pPr>
              <a:spcAft>
                <a:spcPts val="1000"/>
              </a:spcAft>
              <a:defRPr sz="1900"/>
            </a:pPr>
            <a:r>
              <a:t>On Windows, the code expects Tesseract at:</a:t>
            </a:r>
          </a:p>
          <a:p>
            <a:pPr>
              <a:spcAft>
                <a:spcPts val="1000"/>
              </a:spcAft>
              <a:defRPr sz="1900"/>
            </a:pPr>
            <a:r>
              <a:t>C:\Program Files\Tesseract-OCR\tesseract.exe</a:t>
            </a:r>
          </a:p>
          <a:p>
            <a:pPr>
              <a:spcAft>
                <a:spcPts val="1000"/>
              </a:spcAft>
              <a:defRPr sz="1900"/>
            </a:pPr>
            <a:r>
              <a:t>Tesseract OCR must therefore be installed on the system for image text extraction.</a:t>
            </a:r>
          </a:p>
          <a:p>
            <a:pPr>
              <a:spcAft>
                <a:spcPts val="1000"/>
              </a:spcAft>
              <a:defRPr sz="1900"/>
            </a:pPr>
            <a:r>
              <a:t>PDF, DOCX and Excel processing do not depend on the Tesseract executable.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Suggested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Open the application with Streamlit.</a:t>
            </a:r>
          </a:p>
          <a:p>
            <a:pPr>
              <a:spcAft>
                <a:spcPts val="1000"/>
              </a:spcAft>
              <a:defRPr sz="1900"/>
            </a:pPr>
            <a:r>
              <a:t>Enter a valid OpenAI API key and unlock the dashboard.</a:t>
            </a:r>
          </a:p>
          <a:p>
            <a:pPr>
              <a:spcAft>
                <a:spcPts val="1000"/>
              </a:spcAft>
              <a:defRPr sz="1900"/>
            </a:pPr>
            <a:r>
              <a:t>Upload a sample PDF/DOCX/Excel/image document.</a:t>
            </a:r>
          </a:p>
          <a:p>
            <a:pPr>
              <a:spcAft>
                <a:spcPts val="1000"/>
              </a:spcAft>
              <a:defRPr sz="1900"/>
            </a:pPr>
            <a:r>
              <a:t>Show chunk indexing and active RAG metrics.</a:t>
            </a:r>
          </a:p>
          <a:p>
            <a:pPr>
              <a:spcAft>
                <a:spcPts val="1000"/>
              </a:spcAft>
              <a:defRPr sz="1900"/>
            </a:pPr>
            <a:r>
              <a:t>Ask 2–3 questions about the document.</a:t>
            </a:r>
          </a:p>
          <a:p>
            <a:pPr>
              <a:spcAft>
                <a:spcPts val="1000"/>
              </a:spcAft>
              <a:defRPr sz="1900"/>
            </a:pPr>
            <a:r>
              <a:t>Open Retrieved Chunks Transparency to show the supporting context.</a:t>
            </a:r>
          </a:p>
          <a:p>
            <a:pPr>
              <a:spcAft>
                <a:spcPts val="1000"/>
              </a:spcAft>
              <a:defRPr sz="1900"/>
            </a:pPr>
            <a:r>
              <a:t>Change top-k or chunk settings and demonstrate the effect.</a:t>
            </a:r>
          </a:p>
          <a:p>
            <a:pPr>
              <a:spcAft>
                <a:spcPts val="1000"/>
              </a:spcAft>
              <a:defRPr sz="1900"/>
            </a:pPr>
            <a:r>
              <a:t>Use Lock / Clear Session at the 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Strengths &amp; Current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Strength: supports multiple document formats in one UI.</a:t>
            </a:r>
          </a:p>
          <a:p>
            <a:pPr>
              <a:spcAft>
                <a:spcPts val="1000"/>
              </a:spcAft>
              <a:defRPr sz="1900"/>
            </a:pPr>
            <a:r>
              <a:t>Strength: semantic retrieval through FAISS + OpenAI embeddings.</a:t>
            </a:r>
          </a:p>
          <a:p>
            <a:pPr>
              <a:spcAft>
                <a:spcPts val="1000"/>
              </a:spcAft>
              <a:defRPr sz="1900"/>
            </a:pPr>
            <a:r>
              <a:t>Strength: configurable chunking and retrieval parameters.</a:t>
            </a:r>
          </a:p>
          <a:p>
            <a:pPr>
              <a:spcAft>
                <a:spcPts val="1000"/>
              </a:spcAft>
              <a:defRPr sz="1900"/>
            </a:pPr>
            <a:r>
              <a:t>Strength: retrieved context is visible to the user.</a:t>
            </a:r>
          </a:p>
          <a:p>
            <a:pPr>
              <a:spcAft>
                <a:spcPts val="1000"/>
              </a:spcAft>
              <a:defRPr sz="1900"/>
            </a:pPr>
            <a:r>
              <a:t>Consideration: image OCR requires a local Tesseract installation at the configured Windows path.</a:t>
            </a:r>
          </a:p>
          <a:p>
            <a:pPr>
              <a:spcAft>
                <a:spcPts val="1000"/>
              </a:spcAft>
              <a:defRPr sz="1900"/>
            </a:pPr>
            <a:r>
              <a:t>Consideration: OpenAI API access is required for embeddings and chat generation.</a:t>
            </a:r>
          </a:p>
          <a:p>
            <a:pPr>
              <a:spcAft>
                <a:spcPts val="1000"/>
              </a:spcAft>
              <a:defRPr sz="1900"/>
            </a:pPr>
            <a:r>
              <a:t>Consideration: the uploaded app is a RAG assistant; it does not implement the separate MarketMind autonomous-agent architecture from the assignment manual.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ResearchVault AI provides a practical multi-format RAG workflow.</a:t>
            </a:r>
          </a:p>
          <a:p>
            <a:pPr>
              <a:spcAft>
                <a:spcPts val="1000"/>
              </a:spcAft>
              <a:defRPr sz="1900"/>
            </a:pPr>
            <a:r>
              <a:t>It combines document extraction, chunking, vector search and LLM generation.</a:t>
            </a:r>
          </a:p>
          <a:p>
            <a:pPr>
              <a:spcAft>
                <a:spcPts val="1000"/>
              </a:spcAft>
              <a:defRPr sz="1900"/>
            </a:pPr>
            <a:r>
              <a:t>Streamlit makes the complete workflow accessible through a browser interface.</a:t>
            </a:r>
          </a:p>
          <a:p>
            <a:pPr>
              <a:spcAft>
                <a:spcPts val="1000"/>
              </a:spcAft>
              <a:defRPr sz="1900"/>
            </a:pPr>
            <a:r>
              <a:t>The project can be launched with: 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